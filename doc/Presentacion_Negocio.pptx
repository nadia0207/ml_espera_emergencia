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304" r:id="rId3"/>
    <p:sldId id="258" r:id="rId4"/>
    <p:sldId id="305" r:id="rId5"/>
    <p:sldId id="259" r:id="rId6"/>
    <p:sldId id="306" r:id="rId7"/>
    <p:sldId id="307" r:id="rId8"/>
    <p:sldId id="262" r:id="rId9"/>
    <p:sldId id="309" r:id="rId1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10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s-ES" sz="1300" b="0" i="0" u="none" strike="noStrike" noProof="0" dirty="0">
                <a:solidFill>
                  <a:srgbClr val="065A82"/>
                </a:solidFill>
                <a:latin typeface="Arial"/>
              </a:rPr>
              <a:t>Impacto en la satisfacción del paciente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Correlación con satisfacción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BC-416D-8C76-32655C58CE22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BC-416D-8C76-32655C58CE22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BC-416D-8C76-32655C58CE22}"/>
              </c:ext>
            </c:extLst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BC-416D-8C76-32655C58CE2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Tiempo hasta médico</c:v>
                </c:pt>
                <c:pt idx="1">
                  <c:v>Tiempo registro</c:v>
                </c:pt>
                <c:pt idx="2">
                  <c:v>Tiempo triaje</c:v>
                </c:pt>
                <c:pt idx="3">
                  <c:v>Ratio enfermeras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</c:v>
                </c:pt>
                <c:pt idx="1">
                  <c:v>0.83</c:v>
                </c:pt>
                <c:pt idx="2">
                  <c:v>0.8</c:v>
                </c:pt>
                <c:pt idx="3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DBC-416D-8C76-32655C58CE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4A6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s-ES" sz="1600" b="1" i="0" u="none" strike="noStrike" noProof="0" dirty="0">
                <a:solidFill>
                  <a:srgbClr val="065A82"/>
                </a:solidFill>
                <a:latin typeface="Arial"/>
              </a:rPr>
              <a:t>Comparación de modelos supervisados evaluados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88B-42E1-BE6C-C6D9A2A89ACE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88B-42E1-BE6C-C6D9A2A89ACE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88B-42E1-BE6C-C6D9A2A89ACE}"/>
              </c:ext>
            </c:extLst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88B-42E1-BE6C-C6D9A2A89ACE}"/>
              </c:ext>
            </c:extLst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88B-42E1-BE6C-C6D9A2A89ACE}"/>
              </c:ext>
            </c:extLst>
          </c:dPt>
          <c:dPt>
            <c:idx val="5"/>
            <c:invertIfNegative val="0"/>
            <c:bubble3D val="0"/>
            <c:spPr>
              <a:solidFill>
                <a:srgbClr val="4A6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88B-42E1-BE6C-C6D9A2A89ACE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Logistic Regression ⭐</c:v>
                </c:pt>
                <c:pt idx="1">
                  <c:v>SVM</c:v>
                </c:pt>
                <c:pt idx="2">
                  <c:v>CatBoost</c:v>
                </c:pt>
                <c:pt idx="3">
                  <c:v>Random Forest</c:v>
                </c:pt>
                <c:pt idx="4">
                  <c:v>Gradient Boosting</c:v>
                </c:pt>
                <c:pt idx="5">
                  <c:v>Decision Tree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</c:v>
                </c:pt>
                <c:pt idx="1">
                  <c:v>0.79800000000000004</c:v>
                </c:pt>
                <c:pt idx="2">
                  <c:v>0.79600000000000004</c:v>
                </c:pt>
                <c:pt idx="3">
                  <c:v>0.73699999999999999</c:v>
                </c:pt>
                <c:pt idx="4">
                  <c:v>0.72699999999999998</c:v>
                </c:pt>
                <c:pt idx="5">
                  <c:v>0.68100000000000005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88B-42E1-BE6C-C6D9A2A89A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4A6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DD18964-3BB4-4D47-8767-CE438F1B9D44}" type="datetime1">
              <a:rPr lang="es-ES" smtClean="0"/>
              <a:t>03/05/2026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D2DFAA7-D3C3-4D01-9299-453E25D16D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6C0203-D64A-4516-A5D4-F81B23892FEC}" type="datetime1">
              <a:rPr lang="es-ES" noProof="0" smtClean="0"/>
              <a:t>03/05/2026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C51814-3B91-4036-94D2-3977634EE214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824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187E8-D2A7-CA6E-BFE0-5903626F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DACDD-6E9E-7CE5-AAB9-9C2184B34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FCDDA-826B-5FCC-44E4-EC3B259AA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87B69-2377-73E4-DD1A-D8096B290E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89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rtlCol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05625" y="4927600"/>
            <a:ext cx="4986338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rtlCol="0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36610" y="4079083"/>
            <a:ext cx="5318781" cy="976311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4079083"/>
            <a:ext cx="4416424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10507" y="5130801"/>
            <a:ext cx="9242424" cy="53340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ln>
                <a:noFill/>
              </a:ln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 rtlCol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5" name="Marcador de posición de imagen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es-ES" noProof="0"/>
              <a:t>Agregue la imagen aquí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Marcador de posición de imagen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rtlCol="0" anchor="ctr">
            <a:noAutofit/>
          </a:bodyPr>
          <a:lstStyle>
            <a:lvl1pPr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rtlCol="0" anchor="ctr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rtlCol="0"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rtlCol="0"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rtlCol="0"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Autofit/>
          </a:bodyPr>
          <a:lstStyle>
            <a:lvl1pPr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Marcador de posición de imagen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rtlCol="0" anchor="ctr">
            <a:noAutofit/>
          </a:bodyPr>
          <a:lstStyle>
            <a:lvl1pPr algn="ctr">
              <a:defRPr sz="36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imagen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bg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posición de imagen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posición de imagen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6" name="Marcador de posición de imagen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posición de imagen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Marcador de posición de imagen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posición de imagen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0" name="Marcador de texto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arcador de posición de imagen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5" name="Marcador de posición de imagen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6" name="Marcador de posición de imagen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8" name="Marcador de posición de imagen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texto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6168473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Triángulo isósceles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4" name="Triángulo isósceles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7" name="Marcador de posición de imagen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texto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8" name="Marcador de texto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19" name="Marcador de texto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20" name="Marcador de posición de imagen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5" name="Marcador de posición de imagen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6" name="Marcador de posición de imagen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7" name="Marcador de posición de imagen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8" name="Marcador de posición de imagen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4" name="Marcador de posición de imagen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5" name="Marcador de posición de imagen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6" name="Marcador de posición de imagen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9" name="Marcador de texto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5" name="Marcador de texto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49" name="Marcador de texto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0" name="Marcador de texto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51" name="Marcador de posición de imagen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2" name="Marcador de posición de imagen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3" name="Marcador de posición de imagen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osición de imagen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8" name="Marcador de posición de imagen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9" name="Marcador de posición de imagen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0" name="Marcador de posición de imagen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1" name="Marcador de texto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3" name="Marcador de texto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7" name="Marcador de texto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38" name="Marcador de texto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0" name="Marcador de texto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1" name="Marcador de texto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2" name="Marcador de texto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  <p:sp>
        <p:nvSpPr>
          <p:cNvPr id="44" name="Marcador de texto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Agregue texto aquí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7" name="Marcador de gráfico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gráfico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9" name="Marcador de gráfico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0" name="Marcador de gráfico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1" name="Marcador de gráfico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s-ES" noProof="0"/>
              <a:t>Haga clic en el icono para agregar un gráfico</a:t>
            </a:r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rtlCol="0"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17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03DC2DEF-D2FE-4B45-ABA4-9F153FD1C98A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  <p:sldLayoutId id="2147483703" r:id="rId5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8C3C018-4D65-9F0C-2DB2-2CFB193633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1" r="28504"/>
          <a:stretch>
            <a:fillRect/>
          </a:stretch>
        </p:blipFill>
        <p:spPr>
          <a:xfrm>
            <a:off x="5016500" y="368765"/>
            <a:ext cx="7175500" cy="5913439"/>
          </a:xfrm>
          <a:prstGeom prst="rect">
            <a:avLst/>
          </a:prstGeom>
          <a:noFill/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911842"/>
            <a:ext cx="4416424" cy="2182811"/>
          </a:xfrm>
        </p:spPr>
        <p:txBody>
          <a:bodyPr rtlCol="0" anchor="b">
            <a:normAutofit/>
          </a:bodyPr>
          <a:lstStyle/>
          <a:p>
            <a:pPr algn="ctr"/>
            <a:r>
              <a:rPr lang="es-ES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Satisfacción</a:t>
            </a:r>
            <a:endParaRPr lang="es-ES" noProof="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076" y="6190521"/>
            <a:ext cx="4416424" cy="558231"/>
          </a:xfrm>
        </p:spPr>
        <p:txBody>
          <a:bodyPr rtlCol="0">
            <a:normAutofit/>
          </a:bodyPr>
          <a:lstStyle/>
          <a:p>
            <a:pPr algn="ctr"/>
            <a:r>
              <a:rPr lang="es-ES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Negocio</a:t>
            </a:r>
            <a:endParaRPr lang="es-ES" noProof="0" dirty="0"/>
          </a:p>
          <a:p>
            <a:pPr algn="ctr" rtl="0"/>
            <a:endParaRPr lang="es-ES" noProof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5FBC058-5B2E-2D97-129B-14518A7A6D89}"/>
              </a:ext>
            </a:extLst>
          </p:cNvPr>
          <p:cNvSpPr txBox="1"/>
          <p:nvPr/>
        </p:nvSpPr>
        <p:spPr>
          <a:xfrm>
            <a:off x="-338234" y="3094653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" sz="2400" b="1" noProof="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Paciente en Urgencias Hospitalarias</a:t>
            </a:r>
            <a:endParaRPr lang="es-ES" sz="2400" b="1" noProof="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FEE4658-6629-ECEF-3F8A-889FF229B4DD}"/>
              </a:ext>
            </a:extLst>
          </p:cNvPr>
          <p:cNvSpPr txBox="1"/>
          <p:nvPr/>
        </p:nvSpPr>
        <p:spPr>
          <a:xfrm>
            <a:off x="6491773" y="6379420"/>
            <a:ext cx="626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" sz="1800" b="1" noProof="0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</a:t>
            </a:r>
            <a:r>
              <a:rPr lang="es-ES" sz="1800" b="1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</a:t>
            </a:r>
            <a:r>
              <a:rPr lang="es-ES" sz="1800" b="1" noProof="0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r>
              <a:rPr lang="es-ES" sz="1800" b="1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s-ES" sz="1800" b="1" noProof="0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TheBridge</a:t>
            </a:r>
            <a:r>
              <a:rPr lang="es-ES" sz="1800" b="1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Mayo 2025</a:t>
            </a:r>
            <a:endParaRPr lang="es-ES" sz="1800" b="1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65A82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733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problema?</a:t>
            </a:r>
            <a:endParaRPr lang="es-ES" sz="3733" noProof="0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3413760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609600" y="1463040"/>
            <a:ext cx="3413760" cy="9753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609600" y="2438400"/>
            <a:ext cx="3413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3467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min</a:t>
            </a:r>
            <a:endParaRPr lang="es-ES" sz="3467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169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2000" b="1" noProof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medio de espera en urgencias</a:t>
            </a:r>
            <a:endParaRPr lang="es-ES" sz="2000" b="1" noProof="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413760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413760" cy="9753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4389120" y="2438400"/>
            <a:ext cx="3413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3467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s-ES" sz="3467" noProof="0" dirty="0"/>
          </a:p>
        </p:txBody>
      </p:sp>
      <p:sp>
        <p:nvSpPr>
          <p:cNvPr id="13" name="Text 11"/>
          <p:cNvSpPr/>
          <p:nvPr/>
        </p:nvSpPr>
        <p:spPr>
          <a:xfrm>
            <a:off x="4511040" y="3108960"/>
            <a:ext cx="3169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b="1" noProof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con satisfacción muy baja (nivel 1-2)</a:t>
            </a:r>
            <a:endParaRPr lang="es-ES" b="1" noProof="0" dirty="0"/>
          </a:p>
        </p:txBody>
      </p:sp>
      <p:sp>
        <p:nvSpPr>
          <p:cNvPr id="14" name="Shape 12"/>
          <p:cNvSpPr/>
          <p:nvPr/>
        </p:nvSpPr>
        <p:spPr>
          <a:xfrm>
            <a:off x="8168640" y="1463040"/>
            <a:ext cx="3413760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5" name="Shape 13"/>
          <p:cNvSpPr/>
          <p:nvPr/>
        </p:nvSpPr>
        <p:spPr>
          <a:xfrm>
            <a:off x="8168640" y="1463040"/>
            <a:ext cx="3413760" cy="9753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7" name="Text 15"/>
          <p:cNvSpPr/>
          <p:nvPr/>
        </p:nvSpPr>
        <p:spPr>
          <a:xfrm>
            <a:off x="8168640" y="2438400"/>
            <a:ext cx="34137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3467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</a:t>
            </a:r>
            <a:endParaRPr lang="es-ES" sz="3467" noProof="0" dirty="0"/>
          </a:p>
        </p:txBody>
      </p:sp>
      <p:sp>
        <p:nvSpPr>
          <p:cNvPr id="18" name="Text 16"/>
          <p:cNvSpPr/>
          <p:nvPr/>
        </p:nvSpPr>
        <p:spPr>
          <a:xfrm>
            <a:off x="8290560" y="3108960"/>
            <a:ext cx="31699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b="1" noProof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que se van sin ser atendidos</a:t>
            </a:r>
            <a:endParaRPr lang="es-ES" b="1" noProof="0" dirty="0"/>
          </a:p>
        </p:txBody>
      </p:sp>
      <p:sp>
        <p:nvSpPr>
          <p:cNvPr id="19" name="Shape 17"/>
          <p:cNvSpPr/>
          <p:nvPr/>
        </p:nvSpPr>
        <p:spPr>
          <a:xfrm>
            <a:off x="609600" y="4389120"/>
            <a:ext cx="10972800" cy="182880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20" name="Text 18"/>
          <p:cNvSpPr/>
          <p:nvPr/>
        </p:nvSpPr>
        <p:spPr>
          <a:xfrm>
            <a:off x="975360" y="45110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3600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 </a:t>
            </a:r>
            <a:r>
              <a:rPr lang="es-ES" sz="28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hospitales no saben qué pacientes van a estar insatisfechos </a:t>
            </a:r>
            <a:r>
              <a:rPr lang="es-ES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que ya es demasiado tarde para actuar.</a:t>
            </a:r>
            <a:endParaRPr lang="es-ES" sz="3600" noProof="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A354C01-A015-6AF3-CFC1-4EEB37560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469" y="1681647"/>
            <a:ext cx="728022" cy="728022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A941801-C503-F44F-AB47-119ECB6CB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49" y="1662326"/>
            <a:ext cx="798935" cy="798935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CF19DAE-CA5F-3580-469F-2D23FCF01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299" y="1681647"/>
            <a:ext cx="773665" cy="7736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ES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s-ES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609600" y="1341120"/>
            <a:ext cx="512064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609600" y="1341120"/>
            <a:ext cx="5120640" cy="9753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53440" y="1463040"/>
            <a:ext cx="4632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3200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</a:t>
            </a:r>
            <a:endParaRPr lang="es-ES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853440" y="2133600"/>
            <a:ext cx="4632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</a:t>
            </a:r>
            <a:r>
              <a:rPr lang="es-ES" sz="2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</a:t>
            </a:r>
            <a:r>
              <a:rPr lang="es-ES" sz="2400" b="1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r>
              <a:rPr lang="es-ES" sz="2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s-ES" sz="2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predice el nivel de satisfacción</a:t>
            </a: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paciente (escala 1-5) antes de que abandone el hospital.</a:t>
            </a:r>
            <a:endParaRPr lang="es-ES" sz="2400" noProof="0" dirty="0"/>
          </a:p>
          <a:p>
            <a:endParaRPr lang="es-ES" sz="2400" noProof="0" dirty="0"/>
          </a:p>
          <a:p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entrena con datos operativos de la visita: tiempos de espera, nivel de urgencia y franja horaria.</a:t>
            </a:r>
            <a:endParaRPr lang="es-ES" sz="2400" noProof="0" dirty="0"/>
          </a:p>
        </p:txBody>
      </p:sp>
      <p:sp>
        <p:nvSpPr>
          <p:cNvPr id="8" name="Shape 6"/>
          <p:cNvSpPr/>
          <p:nvPr/>
        </p:nvSpPr>
        <p:spPr>
          <a:xfrm>
            <a:off x="6339840" y="1341120"/>
            <a:ext cx="524256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9" name="Shape 7"/>
          <p:cNvSpPr/>
          <p:nvPr/>
        </p:nvSpPr>
        <p:spPr>
          <a:xfrm>
            <a:off x="6339840" y="1341120"/>
            <a:ext cx="5242560" cy="9753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 sz="2400" noProof="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EF13B25-C73C-29B8-3970-0B9DB2F2F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1097280"/>
            <a:ext cx="5501640" cy="5501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88C05-B47D-DA9A-B69A-1E7CC425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05ECB0-89BE-1B4C-C67A-6F17DFE3137C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6CC2B4-C858-BA88-5ADD-EC7973CA3085}"/>
              </a:ext>
            </a:extLst>
          </p:cNvPr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733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s-ES" sz="3733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F4C3385-0B25-8C2B-6C42-F8997BDBA8F0}"/>
              </a:ext>
            </a:extLst>
          </p:cNvPr>
          <p:cNvSpPr/>
          <p:nvPr/>
        </p:nvSpPr>
        <p:spPr>
          <a:xfrm>
            <a:off x="609600" y="1341120"/>
            <a:ext cx="5120640" cy="9753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278C8DD-050E-2097-52F9-E9F8664440B2}"/>
              </a:ext>
            </a:extLst>
          </p:cNvPr>
          <p:cNvSpPr/>
          <p:nvPr/>
        </p:nvSpPr>
        <p:spPr>
          <a:xfrm>
            <a:off x="6339840" y="1341120"/>
            <a:ext cx="524256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002DA21-7E12-319B-63D2-55844DDFDB59}"/>
              </a:ext>
            </a:extLst>
          </p:cNvPr>
          <p:cNvSpPr/>
          <p:nvPr/>
        </p:nvSpPr>
        <p:spPr>
          <a:xfrm>
            <a:off x="6339840" y="1341120"/>
            <a:ext cx="5242560" cy="9753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229813F-5508-8994-B8D4-4A583FD46205}"/>
              </a:ext>
            </a:extLst>
          </p:cNvPr>
          <p:cNvSpPr/>
          <p:nvPr/>
        </p:nvSpPr>
        <p:spPr>
          <a:xfrm>
            <a:off x="6583680" y="1463040"/>
            <a:ext cx="47548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3200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utilizados</a:t>
            </a:r>
            <a:endParaRPr lang="es-ES" sz="3200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FDD98C4-801C-EE6F-088D-C08A535AB9A3}"/>
              </a:ext>
            </a:extLst>
          </p:cNvPr>
          <p:cNvSpPr/>
          <p:nvPr/>
        </p:nvSpPr>
        <p:spPr>
          <a:xfrm>
            <a:off x="6583680" y="2133600"/>
            <a:ext cx="4632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visitas a urgencias (2024)</a:t>
            </a:r>
            <a:endParaRPr lang="es-ES" sz="2400" noProof="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s-ES" sz="24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público de </a:t>
            </a:r>
            <a:r>
              <a:rPr lang="es-ES" sz="24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s-ES" sz="2400" noProof="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tiempos de espera, urgencia, día, franja horaria.</a:t>
            </a:r>
            <a:endParaRPr lang="es-ES" sz="2400" noProof="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satisfacción del paciente (1 a 5)</a:t>
            </a:r>
            <a:endParaRPr lang="es-ES" sz="2400" noProof="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0AFC5758-0A3B-79D0-FCF3-998E933DA96F}"/>
              </a:ext>
            </a:extLst>
          </p:cNvPr>
          <p:cNvSpPr/>
          <p:nvPr/>
        </p:nvSpPr>
        <p:spPr>
          <a:xfrm>
            <a:off x="609600" y="1429512"/>
            <a:ext cx="5120640" cy="4666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172C715-E9B0-EA71-DBC2-99DAB756B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41120"/>
            <a:ext cx="4910390" cy="491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35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733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valor aporta al hospital?</a:t>
            </a:r>
            <a:endParaRPr lang="es-ES" sz="3733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402080"/>
            <a:ext cx="5364480" cy="2255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402080"/>
            <a:ext cx="146304" cy="2255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609600" y="1529598"/>
            <a:ext cx="487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Intervención temprana</a:t>
            </a:r>
            <a:endParaRPr lang="es-E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670561" y="2133600"/>
            <a:ext cx="3537546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000" noProof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pacientes en riesgo de baja satisfacción antes de que se vayan, permitiendo actuar a tiempo.</a:t>
            </a:r>
            <a:endParaRPr lang="es-ES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6278880" y="1402080"/>
            <a:ext cx="5364480" cy="2255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9" name="Shape 7"/>
          <p:cNvSpPr/>
          <p:nvPr/>
        </p:nvSpPr>
        <p:spPr>
          <a:xfrm>
            <a:off x="6278880" y="1402080"/>
            <a:ext cx="146304" cy="2255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6595872" y="1529598"/>
            <a:ext cx="487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s-ES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6583680" y="2133600"/>
            <a:ext cx="317614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000" noProof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qué factores generan insatisfacción para optimizar procesos y recursos del hospital.</a:t>
            </a:r>
            <a:endParaRPr lang="es-ES" sz="200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3962400"/>
            <a:ext cx="5364480" cy="2255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3" name="Shape 11"/>
          <p:cNvSpPr/>
          <p:nvPr/>
        </p:nvSpPr>
        <p:spPr>
          <a:xfrm>
            <a:off x="365760" y="3962400"/>
            <a:ext cx="146304" cy="2255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670560" y="4145280"/>
            <a:ext cx="487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costos</a:t>
            </a:r>
            <a:endParaRPr lang="es-E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70560" y="4693920"/>
            <a:ext cx="2968379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000" noProof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quejas formales, menos pacientes que abandonan sin atención y mejor reputación del centro.</a:t>
            </a:r>
            <a:endParaRPr lang="es-ES" sz="2000" noProof="0" dirty="0"/>
          </a:p>
        </p:txBody>
      </p:sp>
      <p:sp>
        <p:nvSpPr>
          <p:cNvPr id="16" name="Shape 14"/>
          <p:cNvSpPr/>
          <p:nvPr/>
        </p:nvSpPr>
        <p:spPr>
          <a:xfrm>
            <a:off x="6278880" y="3962400"/>
            <a:ext cx="5364480" cy="2255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7" name="Shape 15"/>
          <p:cNvSpPr/>
          <p:nvPr/>
        </p:nvSpPr>
        <p:spPr>
          <a:xfrm>
            <a:off x="6278880" y="3962400"/>
            <a:ext cx="146304" cy="2255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6583680" y="4145280"/>
            <a:ext cx="487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400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en tiempo real</a:t>
            </a:r>
            <a:endParaRPr lang="es-ES" sz="2400" noProof="0" dirty="0"/>
          </a:p>
        </p:txBody>
      </p:sp>
      <p:sp>
        <p:nvSpPr>
          <p:cNvPr id="19" name="Text 17"/>
          <p:cNvSpPr/>
          <p:nvPr/>
        </p:nvSpPr>
        <p:spPr>
          <a:xfrm>
            <a:off x="6583680" y="4693920"/>
            <a:ext cx="343739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000" noProof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predice en segundos con datos disponibles en el momento de la visita.</a:t>
            </a:r>
            <a:endParaRPr lang="es-ES" sz="2000" noProof="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9E06465-D3F6-36AF-A050-F4332C0BC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593" y="1632857"/>
            <a:ext cx="2024743" cy="202474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5A49FEA1-593D-0161-48AA-9B4BECACB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630" y="1584960"/>
            <a:ext cx="2194560" cy="219456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EA011E7-F855-AC43-3DFD-F72180FEE0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657" y="3886510"/>
            <a:ext cx="2537679" cy="2537679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EDB7CD2A-D4FF-8717-AAF0-890E711117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9378" y="4206240"/>
            <a:ext cx="2172478" cy="2172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4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factores influyen en la satisfacción?</a:t>
            </a:r>
            <a:endParaRPr lang="es-ES" sz="3467" noProof="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973902276"/>
              </p:ext>
            </p:extLst>
          </p:nvPr>
        </p:nvGraphicFramePr>
        <p:xfrm>
          <a:off x="121920" y="1341120"/>
          <a:ext cx="6705600" cy="499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93280" y="1341120"/>
            <a:ext cx="4511040" cy="499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6" name="Shape 3"/>
          <p:cNvSpPr/>
          <p:nvPr/>
        </p:nvSpPr>
        <p:spPr>
          <a:xfrm>
            <a:off x="7193280" y="1341120"/>
            <a:ext cx="4511040" cy="9753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7437120" y="14630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800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claves</a:t>
            </a:r>
            <a:endParaRPr lang="es-ES" sz="2800" noProof="0" dirty="0"/>
          </a:p>
        </p:txBody>
      </p:sp>
      <p:sp>
        <p:nvSpPr>
          <p:cNvPr id="8" name="Text 5"/>
          <p:cNvSpPr/>
          <p:nvPr/>
        </p:nvSpPr>
        <p:spPr>
          <a:xfrm>
            <a:off x="7437120" y="2072640"/>
            <a:ext cx="4023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s-ES" sz="2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tiempo de espera → menor satisfacción</a:t>
            </a:r>
            <a:endParaRPr lang="es-ES" sz="2000" noProof="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s-ES" sz="2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críticos son atendidos primero → más satisfechos</a:t>
            </a:r>
            <a:endParaRPr lang="es-ES" sz="2000" noProof="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s-ES" sz="2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con urgencia baja esperan más → mayor insatisfacción</a:t>
            </a:r>
            <a:endParaRPr lang="es-ES" sz="2000" noProof="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s-ES" sz="20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89% de pacientes con urgencia baja tienen satisfacción 1</a:t>
            </a:r>
            <a:endParaRPr lang="es-ES" sz="2000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27CD76C-6D47-AD51-0F9B-CF2A39A13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386" y="609600"/>
            <a:ext cx="2087694" cy="20876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733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modelo</a:t>
            </a:r>
            <a:endParaRPr lang="es-ES" sz="3733" noProof="0" dirty="0"/>
          </a:p>
        </p:txBody>
      </p:sp>
      <p:sp>
        <p:nvSpPr>
          <p:cNvPr id="4" name="Shape 2"/>
          <p:cNvSpPr/>
          <p:nvPr/>
        </p:nvSpPr>
        <p:spPr>
          <a:xfrm>
            <a:off x="487680" y="1341120"/>
            <a:ext cx="3413760" cy="243840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487680" y="1463040"/>
            <a:ext cx="341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5333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s-ES" sz="5333" noProof="0" dirty="0"/>
          </a:p>
        </p:txBody>
      </p:sp>
      <p:sp>
        <p:nvSpPr>
          <p:cNvPr id="6" name="Text 4"/>
          <p:cNvSpPr/>
          <p:nvPr/>
        </p:nvSpPr>
        <p:spPr>
          <a:xfrm>
            <a:off x="487680" y="2560320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20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r>
              <a:rPr lang="es-ES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20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s-E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487680" y="298704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acierta el nivel de satisfacción en 8 de cada 10 casos</a:t>
            </a:r>
            <a:endParaRPr lang="es-ES" b="1" noProof="0" dirty="0"/>
          </a:p>
        </p:txBody>
      </p:sp>
      <p:sp>
        <p:nvSpPr>
          <p:cNvPr id="8" name="Shape 6"/>
          <p:cNvSpPr/>
          <p:nvPr/>
        </p:nvSpPr>
        <p:spPr>
          <a:xfrm>
            <a:off x="4267200" y="1341120"/>
            <a:ext cx="3413760" cy="243840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267200" y="1463040"/>
            <a:ext cx="341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5333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s-ES" sz="5333" noProof="0" dirty="0"/>
          </a:p>
        </p:txBody>
      </p:sp>
      <p:sp>
        <p:nvSpPr>
          <p:cNvPr id="10" name="Text 8"/>
          <p:cNvSpPr/>
          <p:nvPr/>
        </p:nvSpPr>
        <p:spPr>
          <a:xfrm>
            <a:off x="4267200" y="2560320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s-ES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4389120" y="298704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equilibrado en todas las clases</a:t>
            </a:r>
            <a:endParaRPr lang="es-ES" b="1" noProof="0" dirty="0"/>
          </a:p>
        </p:txBody>
      </p:sp>
      <p:sp>
        <p:nvSpPr>
          <p:cNvPr id="12" name="Shape 10"/>
          <p:cNvSpPr/>
          <p:nvPr/>
        </p:nvSpPr>
        <p:spPr>
          <a:xfrm>
            <a:off x="8046720" y="1341120"/>
            <a:ext cx="3413760" cy="243840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046720" y="1463040"/>
            <a:ext cx="341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5333" b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s-ES" sz="5333" noProof="0" dirty="0"/>
          </a:p>
        </p:txBody>
      </p:sp>
      <p:sp>
        <p:nvSpPr>
          <p:cNvPr id="14" name="Text 12"/>
          <p:cNvSpPr/>
          <p:nvPr/>
        </p:nvSpPr>
        <p:spPr>
          <a:xfrm>
            <a:off x="8046720" y="2560320"/>
            <a:ext cx="34137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20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s-ES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</a:t>
            </a:r>
            <a:endParaRPr lang="es-ES" sz="2000" noProof="0" dirty="0"/>
          </a:p>
        </p:txBody>
      </p:sp>
      <p:sp>
        <p:nvSpPr>
          <p:cNvPr id="15" name="Text 13"/>
          <p:cNvSpPr/>
          <p:nvPr/>
        </p:nvSpPr>
        <p:spPr>
          <a:xfrm>
            <a:off x="8168640" y="2987040"/>
            <a:ext cx="31699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global sobre datos nuevos</a:t>
            </a:r>
            <a:endParaRPr lang="es-ES" b="1" noProof="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751871221"/>
              </p:ext>
            </p:extLst>
          </p:nvPr>
        </p:nvGraphicFramePr>
        <p:xfrm>
          <a:off x="487680" y="4023360"/>
          <a:ext cx="11216640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733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próximos pasos</a:t>
            </a:r>
            <a:endParaRPr lang="es-ES" sz="3733" noProof="0" dirty="0"/>
          </a:p>
        </p:txBody>
      </p:sp>
      <p:sp>
        <p:nvSpPr>
          <p:cNvPr id="4" name="Shape 2"/>
          <p:cNvSpPr/>
          <p:nvPr/>
        </p:nvSpPr>
        <p:spPr>
          <a:xfrm>
            <a:off x="487680" y="1341120"/>
            <a:ext cx="5242560" cy="499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487680" y="1341120"/>
            <a:ext cx="5242560" cy="97536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31519" y="1463040"/>
            <a:ext cx="399910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800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actuales</a:t>
            </a:r>
            <a:endParaRPr lang="es-ES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481459" y="2224745"/>
            <a:ext cx="5425440" cy="2219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600"/>
              </a:spcAft>
              <a:buSzPct val="100000"/>
              <a:buChar char="•"/>
            </a:pPr>
            <a:r>
              <a:rPr lang="es-ES" sz="24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sintético, no son datos reales de un hospital.</a:t>
            </a:r>
            <a:endParaRPr lang="es-ES" sz="2400" noProof="0" dirty="0"/>
          </a:p>
          <a:p>
            <a:pPr marL="457189" indent="-457189">
              <a:spcAft>
                <a:spcPts val="1600"/>
              </a:spcAft>
              <a:buSzPct val="100000"/>
              <a:buChar char="•"/>
            </a:pP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registros es un volumen limitado</a:t>
            </a:r>
            <a:endParaRPr lang="es-ES" sz="2400" noProof="0" dirty="0"/>
          </a:p>
          <a:p>
            <a:pPr marL="457189" indent="-457189">
              <a:spcAft>
                <a:spcPts val="1600"/>
              </a:spcAft>
              <a:buSzPct val="100000"/>
              <a:buChar char="•"/>
            </a:pP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 variables clínicas del paciente</a:t>
            </a:r>
            <a:endParaRPr lang="es-ES" sz="2400" noProof="0" dirty="0"/>
          </a:p>
        </p:txBody>
      </p:sp>
      <p:sp>
        <p:nvSpPr>
          <p:cNvPr id="8" name="Shape 6"/>
          <p:cNvSpPr/>
          <p:nvPr/>
        </p:nvSpPr>
        <p:spPr>
          <a:xfrm>
            <a:off x="6461760" y="1341120"/>
            <a:ext cx="5242560" cy="499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9" name="Shape 7"/>
          <p:cNvSpPr/>
          <p:nvPr/>
        </p:nvSpPr>
        <p:spPr>
          <a:xfrm>
            <a:off x="6461760" y="1341120"/>
            <a:ext cx="5242560" cy="9753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E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6705600" y="1463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2800" b="1" noProof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s-ES" sz="2800" noProof="0" dirty="0"/>
          </a:p>
        </p:txBody>
      </p:sp>
      <p:sp>
        <p:nvSpPr>
          <p:cNvPr id="11" name="Text 9"/>
          <p:cNvSpPr/>
          <p:nvPr/>
        </p:nvSpPr>
        <p:spPr>
          <a:xfrm>
            <a:off x="6499082" y="1894089"/>
            <a:ext cx="5167915" cy="28805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datos reales de un hospital</a:t>
            </a:r>
            <a:endParaRPr lang="es-ES" sz="2400" noProof="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variables clínicas (diagnóstico, edad, motivo de consulta)</a:t>
            </a:r>
            <a:endParaRPr lang="es-ES" sz="2400" noProof="0" dirty="0"/>
          </a:p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 la solución mediante aplicación web con </a:t>
            </a:r>
            <a:r>
              <a:rPr lang="es-ES" sz="24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s-ES" sz="2400" noProof="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BB30840-DADA-9326-C0A2-F30899FEB1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19" b="11072"/>
          <a:stretch>
            <a:fillRect/>
          </a:stretch>
        </p:blipFill>
        <p:spPr>
          <a:xfrm>
            <a:off x="3075527" y="4336793"/>
            <a:ext cx="2919702" cy="2219261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95C8B165-43A9-9AAE-2314-E665D6814899}"/>
              </a:ext>
            </a:extLst>
          </p:cNvPr>
          <p:cNvSpPr/>
          <p:nvPr/>
        </p:nvSpPr>
        <p:spPr>
          <a:xfrm>
            <a:off x="481459" y="4474783"/>
            <a:ext cx="2627501" cy="1943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600"/>
              </a:spcAft>
              <a:buSzPct val="100000"/>
              <a:buChar char="•"/>
            </a:pP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4 tiene rendimiento menor (53% </a:t>
            </a:r>
            <a:r>
              <a:rPr lang="es-ES" sz="24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2400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45E1014-CC8A-C73F-335B-8AAE88297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188" y="3982183"/>
            <a:ext cx="2724812" cy="2724812"/>
          </a:xfrm>
          <a:prstGeom prst="rect">
            <a:avLst/>
          </a:prstGeom>
        </p:spPr>
      </p:pic>
      <p:sp>
        <p:nvSpPr>
          <p:cNvPr id="19" name="Text 9">
            <a:extLst>
              <a:ext uri="{FF2B5EF4-FFF2-40B4-BE49-F238E27FC236}">
                <a16:creationId xmlns:a16="http://schemas.microsoft.com/office/drawing/2014/main" id="{2FCCBA21-C835-E3C7-1EAD-A9277D901D6A}"/>
              </a:ext>
            </a:extLst>
          </p:cNvPr>
          <p:cNvSpPr/>
          <p:nvPr/>
        </p:nvSpPr>
        <p:spPr>
          <a:xfrm>
            <a:off x="6499082" y="4555207"/>
            <a:ext cx="3320454" cy="1496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333"/>
              </a:spcAft>
              <a:buSzPct val="100000"/>
              <a:buChar char="•"/>
            </a:pPr>
            <a:r>
              <a:rPr lang="es-ES" sz="2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predicción de tiempos de espera</a:t>
            </a:r>
            <a:endParaRPr lang="es-ES" sz="24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posición de imagen 11">
            <a:extLst>
              <a:ext uri="{FF2B5EF4-FFF2-40B4-BE49-F238E27FC236}">
                <a16:creationId xmlns:a16="http://schemas.microsoft.com/office/drawing/2014/main" id="{9D2295D4-A950-6A31-C4BC-37900CA880F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5254" r="25254"/>
          <a:stretch>
            <a:fillRect/>
          </a:stretch>
        </p:blipFill>
        <p:spPr>
          <a:xfrm>
            <a:off x="571500" y="0"/>
            <a:ext cx="6391276" cy="6857999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48036674-5878-522D-4F96-F8DB25C1F9B2}"/>
              </a:ext>
            </a:extLst>
          </p:cNvPr>
          <p:cNvSpPr/>
          <p:nvPr/>
        </p:nvSpPr>
        <p:spPr>
          <a:xfrm>
            <a:off x="6681788" y="1419225"/>
            <a:ext cx="5915025" cy="34099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2800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ML  </a:t>
            </a:r>
          </a:p>
          <a:p>
            <a:pPr algn="ctr"/>
            <a:r>
              <a:rPr lang="es-ES" sz="2800" b="1" noProof="0" dirty="0" err="1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r>
              <a:rPr lang="es-ES" sz="2800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2800" b="1" noProof="0" dirty="0" err="1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s-ES" sz="2800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81% </a:t>
            </a:r>
          </a:p>
          <a:p>
            <a:pPr algn="ctr"/>
            <a:endParaRPr lang="es-ES" sz="2800" b="1" noProof="0" dirty="0">
              <a:solidFill>
                <a:srgbClr val="A8D8E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s-ES" sz="2800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Modelos Supervisados + </a:t>
            </a:r>
          </a:p>
          <a:p>
            <a:pPr algn="ctr"/>
            <a:r>
              <a:rPr lang="es-ES" sz="2800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 Supervisado (</a:t>
            </a:r>
            <a:r>
              <a:rPr lang="es-ES" sz="2800" b="1" noProof="0" dirty="0" err="1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r>
              <a:rPr lang="es-ES" sz="2800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2800" b="1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D3D267-3CFC-C162-2EAB-75B60141B3AF}"/>
              </a:ext>
            </a:extLst>
          </p:cNvPr>
          <p:cNvSpPr/>
          <p:nvPr/>
        </p:nvSpPr>
        <p:spPr>
          <a:xfrm>
            <a:off x="9934575" y="5882639"/>
            <a:ext cx="26622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3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  </a:t>
            </a:r>
            <a:endParaRPr lang="es-ES" sz="3200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A6C9192-70D5-FA23-68F6-38BD0A90495B}"/>
              </a:ext>
            </a:extLst>
          </p:cNvPr>
          <p:cNvSpPr/>
          <p:nvPr/>
        </p:nvSpPr>
        <p:spPr>
          <a:xfrm>
            <a:off x="7677151" y="6431279"/>
            <a:ext cx="4514849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1600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 Ll. ·  Data </a:t>
            </a:r>
            <a:r>
              <a:rPr lang="es-ES" sz="1600" b="1" noProof="0" dirty="0" err="1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r>
              <a:rPr lang="es-ES" sz="1600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s-ES" sz="1600" b="1" noProof="0" dirty="0" err="1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TheBridge</a:t>
            </a:r>
            <a:r>
              <a:rPr lang="es-ES" sz="1600" b="1" noProof="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Mayo 2025</a:t>
            </a:r>
            <a:endParaRPr lang="es-ES" sz="1600" b="1" noProof="0" dirty="0"/>
          </a:p>
        </p:txBody>
      </p:sp>
    </p:spTree>
    <p:extLst>
      <p:ext uri="{BB962C8B-B14F-4D97-AF65-F5344CB8AC3E}">
        <p14:creationId xmlns:p14="http://schemas.microsoft.com/office/powerpoint/2010/main" val="1053886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8973.tgt.Office_50304712_TF34126823_Win32_OJ112181013" id="{0FF25D6E-8F37-4983-A1B8-821332E0C5CC}" vid="{C69999EA-4DFF-4878-BAEC-9FBD108C09D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clásica en bloque en negrita</Template>
  <TotalTime>73</TotalTime>
  <Words>448</Words>
  <Application>Microsoft Office PowerPoint</Application>
  <PresentationFormat>Panorámica</PresentationFormat>
  <Paragraphs>76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Predicción de Satisfacción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 - NADIA DOMITILA LLAMOCA CORDOVA</dc:creator>
  <cp:lastModifiedBy>ALUMNO - NADIA DOMITILA LLAMOCA CORDOVA</cp:lastModifiedBy>
  <cp:revision>3</cp:revision>
  <dcterms:created xsi:type="dcterms:W3CDTF">2026-05-03T19:54:05Z</dcterms:created>
  <dcterms:modified xsi:type="dcterms:W3CDTF">2026-05-03T21:07:48Z</dcterms:modified>
</cp:coreProperties>
</file>